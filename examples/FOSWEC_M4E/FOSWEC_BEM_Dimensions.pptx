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1188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2B448-CD08-0015-DF6B-17874C8799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A618C3-0BE2-1353-5C42-93CC78D608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A98292-BF3D-56F6-BCA2-A24E3B143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DD596-B551-4104-AF86-405EBC7207B6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8FA0A-472D-2487-4D91-0E36C3408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B792B-5C63-43C6-3B6E-3132E302D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BDEDD-948C-4C10-ACAC-07BBFF6DD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045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E960B-CF0E-4D0B-C256-D0F0BDA4B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98730-6998-5901-E0CF-69BFAABEDE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A49FA-A93A-2AD7-631B-8BCF85C18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DD596-B551-4104-AF86-405EBC7207B6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FD5A8-04EF-EEB2-6E6D-04ED67175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FC48F-60D8-9843-1105-1EF8C5B44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BDEDD-948C-4C10-ACAC-07BBFF6DD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516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28F39-75AA-647A-7FB5-4858CAE18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45B350-B5B1-FB99-3F2A-D0AE89014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2FCD8-E3BF-B3CD-5CD0-C37589D22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DD596-B551-4104-AF86-405EBC7207B6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3419E-B231-0524-5C5E-C5E471C9D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66B96-1B87-6920-F237-327141927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BDEDD-948C-4C10-ACAC-07BBFF6DD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12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CF934-5A62-18FF-85F6-46F16C7A0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5C477-5D22-45EE-486E-E7761B367D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FED8E9-7F12-1A53-FE3E-163DB0836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62B438-D213-48C5-6EDB-C94E5620E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DD596-B551-4104-AF86-405EBC7207B6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3D9071-F9EB-6862-6665-151183CDD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256F23-4A4D-0B20-EF38-78265F9D3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BDEDD-948C-4C10-ACAC-07BBFF6DD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31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6A345-00AA-489E-4337-28E1938B9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7A8558-77B4-577F-4D95-79859A1DC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2F669D-7652-C2DB-FFB0-E547648C1A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80FFA1-B195-290A-CD41-1EFE237C73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E971F7-A91C-5E9D-CA46-B6C2062694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8442AC-3F57-EBC5-3BD7-FA6262186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DD596-B551-4104-AF86-405EBC7207B6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E7B5B7-7F15-7EAA-D244-E7682DAAA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E7ADCE-622B-3AA2-9297-230F8AAB1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BDEDD-948C-4C10-ACAC-07BBFF6DD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18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027D7-ADBC-ABF5-5A13-FF64C804F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31FE42-EE91-C4D8-544F-AB83EE6EF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DD596-B551-4104-AF86-405EBC7207B6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188797-1CAE-4FD0-EFD5-C941ADE0D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8CE11D-4F94-49E8-519B-802710B8A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BDEDD-948C-4C10-ACAC-07BBFF6DD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337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3B974A-A6DF-9EBD-72D4-C8F3A3646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DD596-B551-4104-AF86-405EBC7207B6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8762B0-57AB-5032-B424-9886148DF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32C93D-A523-9A57-323B-C151CA633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BDEDD-948C-4C10-ACAC-07BBFF6DD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195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C02C-FDF4-9FA5-FC2B-43FA0E226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57776-6763-C52A-980A-F1E293EB2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FD5FE4-C8E7-F781-1D97-CB60F51E03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C3F7B9-5519-6959-8937-CD075C148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DD596-B551-4104-AF86-405EBC7207B6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15366A-0604-5181-184E-78FCEFB0F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0E1F44-1273-77E1-906A-1B2CDC554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BDEDD-948C-4C10-ACAC-07BBFF6DD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538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70F74-31EE-F5F2-3A9C-570109F1B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5C2687-6512-CD65-5D9A-304317F8F4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F95737-3CA8-71AB-09DE-E6FB8D73E7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F78880-F1DD-05EE-59D8-A538281D2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DD596-B551-4104-AF86-405EBC7207B6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83513-BE49-FEEB-9D01-B1B349864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3CFF54-A840-3754-7E8E-8565D4F24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BDEDD-948C-4C10-ACAC-07BBFF6DD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441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054D7-D187-F93B-6E25-229F8CCB9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C6636B-1774-5BF6-DB54-9BECE89EEF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6DA94-E239-1057-B91D-A15DF0A3E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DD596-B551-4104-AF86-405EBC7207B6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F18BE9-AD5D-32C1-1570-8E83C235E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D5F9E-79B3-F1FF-2945-A4F37381D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BDEDD-948C-4C10-ACAC-07BBFF6DD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690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C4C1C6-FB09-1697-A1C8-D5EF8591CE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CC4926-5678-E887-ED4A-8BECAA590A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EF5A4-697E-6785-CFCE-5D293541F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DD596-B551-4104-AF86-405EBC7207B6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38700E-1D0B-1E69-4C46-B97F946CF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02E78-2CBC-5CDD-D9FB-EB9C3EB5A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BDEDD-948C-4C10-ACAC-07BBFF6DD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09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7914B7-C4C2-171C-E827-01CCE8D54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EFACF5-4284-6294-37D4-2DE8C878C0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6B7E8E-9790-DCFA-162C-D76BCBAEAA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3DD596-B551-4104-AF86-405EBC7207B6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4F803-99CB-1844-5AD4-BA450F1B5E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E98B9-50EF-E579-A415-6148590517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8BDEDD-948C-4C10-ACAC-07BBFF6DD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485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90BBE-81F9-D22D-8D38-72C51CD7C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FOSWEC BEM Dimensions</a:t>
            </a:r>
          </a:p>
        </p:txBody>
      </p: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AEEF37C8-B301-58E0-762F-4E285999F77B}"/>
              </a:ext>
            </a:extLst>
          </p:cNvPr>
          <p:cNvGrpSpPr/>
          <p:nvPr/>
        </p:nvGrpSpPr>
        <p:grpSpPr>
          <a:xfrm>
            <a:off x="6867525" y="1456549"/>
            <a:ext cx="5219700" cy="4610216"/>
            <a:chOff x="6867525" y="1456549"/>
            <a:chExt cx="5219700" cy="4610216"/>
          </a:xfrm>
        </p:grpSpPr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1CB4AA06-B3A5-A206-577A-F3B09A12AAB3}"/>
                </a:ext>
              </a:extLst>
            </p:cNvPr>
            <p:cNvSpPr/>
            <p:nvPr/>
          </p:nvSpPr>
          <p:spPr>
            <a:xfrm>
              <a:off x="7611982" y="1811907"/>
              <a:ext cx="781045" cy="39084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7724A571-E7A8-DC1A-C4A1-EE076EB0595B}"/>
                </a:ext>
              </a:extLst>
            </p:cNvPr>
            <p:cNvSpPr/>
            <p:nvPr/>
          </p:nvSpPr>
          <p:spPr>
            <a:xfrm>
              <a:off x="10667417" y="1779119"/>
              <a:ext cx="781045" cy="393688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FFC7A50F-EC14-666D-4E9A-A33266392916}"/>
                </a:ext>
              </a:extLst>
            </p:cNvPr>
            <p:cNvCxnSpPr>
              <a:cxnSpLocks/>
            </p:cNvCxnSpPr>
            <p:nvPr/>
          </p:nvCxnSpPr>
          <p:spPr>
            <a:xfrm>
              <a:off x="6867525" y="2419350"/>
              <a:ext cx="5219700" cy="0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44288049-FB33-8891-26FB-67E594BFE8B9}"/>
                </a:ext>
              </a:extLst>
            </p:cNvPr>
            <p:cNvSpPr/>
            <p:nvPr/>
          </p:nvSpPr>
          <p:spPr>
            <a:xfrm>
              <a:off x="8466548" y="4988832"/>
              <a:ext cx="2141942" cy="160137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E9F83AB0-08E1-F65C-7854-3C5D9B25BAFF}"/>
                </a:ext>
              </a:extLst>
            </p:cNvPr>
            <p:cNvSpPr txBox="1"/>
            <p:nvPr/>
          </p:nvSpPr>
          <p:spPr>
            <a:xfrm>
              <a:off x="7489032" y="1456549"/>
              <a:ext cx="11001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0.2 m</a:t>
              </a:r>
            </a:p>
          </p:txBody>
        </p: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D7678711-CDF0-2F47-69EA-8BEA64469C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29526" y="1723966"/>
              <a:ext cx="781045" cy="4322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15748728-869F-3CF8-6C5A-506B08CEA6EF}"/>
                </a:ext>
              </a:extLst>
            </p:cNvPr>
            <p:cNvSpPr/>
            <p:nvPr/>
          </p:nvSpPr>
          <p:spPr>
            <a:xfrm>
              <a:off x="8700224" y="2470403"/>
              <a:ext cx="1685037" cy="2360130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0D93309A-45AE-5EB1-664B-C35F72D783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96330" y="2285361"/>
              <a:ext cx="1688931" cy="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042B0B6A-3075-D57A-61FD-0F4F59CD761B}"/>
                </a:ext>
              </a:extLst>
            </p:cNvPr>
            <p:cNvSpPr txBox="1"/>
            <p:nvPr/>
          </p:nvSpPr>
          <p:spPr>
            <a:xfrm>
              <a:off x="9020175" y="2021132"/>
              <a:ext cx="11001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0.76 m</a:t>
              </a:r>
            </a:p>
          </p:txBody>
        </p: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4C497222-56C9-01AA-3466-B611FA8D061B}"/>
                </a:ext>
              </a:extLst>
            </p:cNvPr>
            <p:cNvCxnSpPr>
              <a:cxnSpLocks/>
            </p:cNvCxnSpPr>
            <p:nvPr/>
          </p:nvCxnSpPr>
          <p:spPr>
            <a:xfrm>
              <a:off x="9665488" y="4962769"/>
              <a:ext cx="0" cy="205363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D70ABB87-A98B-BE94-658C-2136AB1D1C20}"/>
                </a:ext>
              </a:extLst>
            </p:cNvPr>
            <p:cNvSpPr txBox="1"/>
            <p:nvPr/>
          </p:nvSpPr>
          <p:spPr>
            <a:xfrm>
              <a:off x="9036260" y="4936223"/>
              <a:ext cx="64530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0.05 m</a:t>
              </a:r>
            </a:p>
          </p:txBody>
        </p: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69A1EEDE-F949-3794-0DD7-8DEE80A5A7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66548" y="5220832"/>
              <a:ext cx="2141942" cy="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2C2BC00B-47BE-8608-FD77-FCC1D1215449}"/>
                </a:ext>
              </a:extLst>
            </p:cNvPr>
            <p:cNvSpPr txBox="1"/>
            <p:nvPr/>
          </p:nvSpPr>
          <p:spPr>
            <a:xfrm>
              <a:off x="9214864" y="5220741"/>
              <a:ext cx="64530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1.06 m</a:t>
              </a:r>
            </a:p>
          </p:txBody>
        </p: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38FEE0FB-444D-4084-2A11-2D39E64722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11982" y="5774823"/>
              <a:ext cx="3836480" cy="17273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9522C37C-EA5F-5947-50FF-7682108E37A6}"/>
                </a:ext>
              </a:extLst>
            </p:cNvPr>
            <p:cNvSpPr txBox="1"/>
            <p:nvPr/>
          </p:nvSpPr>
          <p:spPr>
            <a:xfrm>
              <a:off x="9048757" y="5789766"/>
              <a:ext cx="11001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1.63 m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7CE24F8-843A-F269-550D-24A493AB158A}"/>
              </a:ext>
            </a:extLst>
          </p:cNvPr>
          <p:cNvGrpSpPr/>
          <p:nvPr/>
        </p:nvGrpSpPr>
        <p:grpSpPr>
          <a:xfrm>
            <a:off x="-202404" y="1508992"/>
            <a:ext cx="7714198" cy="4782729"/>
            <a:chOff x="-202404" y="1508992"/>
            <a:chExt cx="7714198" cy="4782729"/>
          </a:xfrm>
        </p:grpSpPr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EEAFAE6F-9C9B-287D-DE31-9D06D1F58716}"/>
                </a:ext>
              </a:extLst>
            </p:cNvPr>
            <p:cNvSpPr txBox="1"/>
            <p:nvPr/>
          </p:nvSpPr>
          <p:spPr>
            <a:xfrm>
              <a:off x="6411664" y="4095694"/>
              <a:ext cx="11001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0.17 m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BA9F2ADF-D5C8-9CCB-C593-32AA7BE4E7A3}"/>
                </a:ext>
              </a:extLst>
            </p:cNvPr>
            <p:cNvSpPr/>
            <p:nvPr/>
          </p:nvSpPr>
          <p:spPr>
            <a:xfrm>
              <a:off x="2266950" y="5165066"/>
              <a:ext cx="2014538" cy="40105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DAQ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2EF491E-3257-C74B-4CDB-79F72E9BFECB}"/>
                </a:ext>
              </a:extLst>
            </p:cNvPr>
            <p:cNvSpPr/>
            <p:nvPr/>
          </p:nvSpPr>
          <p:spPr>
            <a:xfrm>
              <a:off x="671515" y="1780731"/>
              <a:ext cx="781045" cy="39084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102FED6-F234-F956-EDA1-5F721B8DD540}"/>
                </a:ext>
              </a:extLst>
            </p:cNvPr>
            <p:cNvSpPr/>
            <p:nvPr/>
          </p:nvSpPr>
          <p:spPr>
            <a:xfrm>
              <a:off x="5210176" y="1843086"/>
              <a:ext cx="781045" cy="38460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rapezoid 8">
              <a:extLst>
                <a:ext uri="{FF2B5EF4-FFF2-40B4-BE49-F238E27FC236}">
                  <a16:creationId xmlns:a16="http://schemas.microsoft.com/office/drawing/2014/main" id="{039DD3F2-4A85-D5D2-E770-F6A6074622F2}"/>
                </a:ext>
              </a:extLst>
            </p:cNvPr>
            <p:cNvSpPr/>
            <p:nvPr/>
          </p:nvSpPr>
          <p:spPr>
            <a:xfrm flipH="1" flipV="1">
              <a:off x="876297" y="2464678"/>
              <a:ext cx="409575" cy="2333622"/>
            </a:xfrm>
            <a:prstGeom prst="trapezoid">
              <a:avLst/>
            </a:prstGeom>
            <a:solidFill>
              <a:srgbClr val="C00000">
                <a:alpha val="50000"/>
              </a:srgbClr>
            </a:solidFill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49F160E-FFF0-982F-FFF6-105F5C807661}"/>
                </a:ext>
              </a:extLst>
            </p:cNvPr>
            <p:cNvCxnSpPr>
              <a:cxnSpLocks/>
            </p:cNvCxnSpPr>
            <p:nvPr/>
          </p:nvCxnSpPr>
          <p:spPr>
            <a:xfrm>
              <a:off x="57150" y="2419350"/>
              <a:ext cx="6572250" cy="0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rapezoid 10">
              <a:extLst>
                <a:ext uri="{FF2B5EF4-FFF2-40B4-BE49-F238E27FC236}">
                  <a16:creationId xmlns:a16="http://schemas.microsoft.com/office/drawing/2014/main" id="{045886DF-C2F6-B8B5-DFE2-1F2E77A1EBA9}"/>
                </a:ext>
              </a:extLst>
            </p:cNvPr>
            <p:cNvSpPr/>
            <p:nvPr/>
          </p:nvSpPr>
          <p:spPr>
            <a:xfrm flipH="1" flipV="1">
              <a:off x="5414959" y="2464678"/>
              <a:ext cx="409575" cy="2333622"/>
            </a:xfrm>
            <a:prstGeom prst="trapezoid">
              <a:avLst/>
            </a:prstGeom>
            <a:solidFill>
              <a:srgbClr val="C00000">
                <a:alpha val="50000"/>
              </a:srgbClr>
            </a:solidFill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Arrow: Curved Down 11">
              <a:extLst>
                <a:ext uri="{FF2B5EF4-FFF2-40B4-BE49-F238E27FC236}">
                  <a16:creationId xmlns:a16="http://schemas.microsoft.com/office/drawing/2014/main" id="{5B659C6B-6062-31F3-E746-B2091FD426E5}"/>
                </a:ext>
              </a:extLst>
            </p:cNvPr>
            <p:cNvSpPr/>
            <p:nvPr/>
          </p:nvSpPr>
          <p:spPr>
            <a:xfrm>
              <a:off x="352423" y="2519364"/>
              <a:ext cx="1457325" cy="385765"/>
            </a:xfrm>
            <a:prstGeom prst="curvedDownArrow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Arrow: Curved Down 14">
              <a:extLst>
                <a:ext uri="{FF2B5EF4-FFF2-40B4-BE49-F238E27FC236}">
                  <a16:creationId xmlns:a16="http://schemas.microsoft.com/office/drawing/2014/main" id="{73A852A8-F7BC-72CC-7843-7C327D748056}"/>
                </a:ext>
              </a:extLst>
            </p:cNvPr>
            <p:cNvSpPr/>
            <p:nvPr/>
          </p:nvSpPr>
          <p:spPr>
            <a:xfrm>
              <a:off x="4891085" y="2590802"/>
              <a:ext cx="1457325" cy="385765"/>
            </a:xfrm>
            <a:prstGeom prst="curvedDownArrow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16888D3-8C82-7C5C-7A18-167662423B43}"/>
                </a:ext>
              </a:extLst>
            </p:cNvPr>
            <p:cNvSpPr/>
            <p:nvPr/>
          </p:nvSpPr>
          <p:spPr>
            <a:xfrm>
              <a:off x="1090607" y="5005001"/>
              <a:ext cx="4519615" cy="16192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E0066F2-F7CF-3FB0-6B2B-3D2ADC2DA182}"/>
                </a:ext>
              </a:extLst>
            </p:cNvPr>
            <p:cNvCxnSpPr>
              <a:cxnSpLocks/>
            </p:cNvCxnSpPr>
            <p:nvPr/>
          </p:nvCxnSpPr>
          <p:spPr>
            <a:xfrm>
              <a:off x="2390773" y="2430962"/>
              <a:ext cx="0" cy="2355145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AD7C249-4610-6BD4-C369-26A5A8B13EF2}"/>
                </a:ext>
              </a:extLst>
            </p:cNvPr>
            <p:cNvSpPr txBox="1"/>
            <p:nvPr/>
          </p:nvSpPr>
          <p:spPr>
            <a:xfrm>
              <a:off x="2350286" y="3072392"/>
              <a:ext cx="11001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0.59 m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0BB6E1B-E570-4712-6725-02D3910E1B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1085" y="6019644"/>
              <a:ext cx="4538662" cy="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8AD4F81-CC02-59AE-2EEC-8B7AB9ED4D8C}"/>
                </a:ext>
              </a:extLst>
            </p:cNvPr>
            <p:cNvCxnSpPr>
              <a:cxnSpLocks/>
            </p:cNvCxnSpPr>
            <p:nvPr/>
          </p:nvCxnSpPr>
          <p:spPr>
            <a:xfrm>
              <a:off x="5619747" y="4533900"/>
              <a:ext cx="0" cy="1548101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0193ECE-FBC2-DB6C-0654-664B831A6853}"/>
                </a:ext>
              </a:extLst>
            </p:cNvPr>
            <p:cNvCxnSpPr>
              <a:cxnSpLocks/>
            </p:cNvCxnSpPr>
            <p:nvPr/>
          </p:nvCxnSpPr>
          <p:spPr>
            <a:xfrm>
              <a:off x="1081085" y="4467225"/>
              <a:ext cx="9522" cy="1614776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4B204B9-C56B-8480-DD73-93D41FBC8171}"/>
                </a:ext>
              </a:extLst>
            </p:cNvPr>
            <p:cNvSpPr txBox="1"/>
            <p:nvPr/>
          </p:nvSpPr>
          <p:spPr>
            <a:xfrm>
              <a:off x="2793210" y="6014722"/>
              <a:ext cx="11001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1.44 m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FC374392-E825-35F2-08D7-271FD41FC3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00672" y="2333469"/>
              <a:ext cx="407189" cy="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CF99E9C-FFE5-8257-5DAD-4F59F3AC627B}"/>
                </a:ext>
              </a:extLst>
            </p:cNvPr>
            <p:cNvSpPr txBox="1"/>
            <p:nvPr/>
          </p:nvSpPr>
          <p:spPr>
            <a:xfrm>
              <a:off x="3012281" y="4963549"/>
              <a:ext cx="11001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0.05 m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F637B3B-539F-28B5-C874-09BBCC5756A9}"/>
                </a:ext>
              </a:extLst>
            </p:cNvPr>
            <p:cNvSpPr txBox="1"/>
            <p:nvPr/>
          </p:nvSpPr>
          <p:spPr>
            <a:xfrm>
              <a:off x="5379247" y="4794424"/>
              <a:ext cx="11001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0.04 m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ECFD1A5-7410-5824-00CD-12D53E8529B4}"/>
                </a:ext>
              </a:extLst>
            </p:cNvPr>
            <p:cNvSpPr txBox="1"/>
            <p:nvPr/>
          </p:nvSpPr>
          <p:spPr>
            <a:xfrm>
              <a:off x="5069682" y="2089578"/>
              <a:ext cx="11001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0.1 m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D6C8B75-DC2A-7357-1D98-24B7ACC71999}"/>
                </a:ext>
              </a:extLst>
            </p:cNvPr>
            <p:cNvSpPr txBox="1"/>
            <p:nvPr/>
          </p:nvSpPr>
          <p:spPr>
            <a:xfrm>
              <a:off x="5069682" y="1508992"/>
              <a:ext cx="11001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0.2 m</a:t>
              </a:r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5961D995-6D65-FF54-AB36-6FDF034E1A5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10176" y="1776409"/>
              <a:ext cx="781045" cy="4322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0CC4C720-92F0-C627-28C5-A1125BA3A64A}"/>
                </a:ext>
              </a:extLst>
            </p:cNvPr>
            <p:cNvCxnSpPr>
              <a:cxnSpLocks/>
            </p:cNvCxnSpPr>
            <p:nvPr/>
          </p:nvCxnSpPr>
          <p:spPr>
            <a:xfrm>
              <a:off x="3912388" y="4952220"/>
              <a:ext cx="0" cy="233362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66E89B1-F12E-C3E4-80CD-7D626ECE05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4320" y="4982494"/>
              <a:ext cx="1495428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F54284AC-29BD-7BF4-EDB6-FD6F74B8F3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4320" y="5689148"/>
              <a:ext cx="1495428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736CE17C-5309-4CAA-D520-2519113D907F}"/>
                </a:ext>
              </a:extLst>
            </p:cNvPr>
            <p:cNvCxnSpPr>
              <a:cxnSpLocks/>
            </p:cNvCxnSpPr>
            <p:nvPr/>
          </p:nvCxnSpPr>
          <p:spPr>
            <a:xfrm>
              <a:off x="352423" y="4722208"/>
              <a:ext cx="0" cy="260286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5B4AEA73-F43E-D946-9B87-E0224E2D9922}"/>
                </a:ext>
              </a:extLst>
            </p:cNvPr>
            <p:cNvCxnSpPr>
              <a:cxnSpLocks/>
            </p:cNvCxnSpPr>
            <p:nvPr/>
          </p:nvCxnSpPr>
          <p:spPr>
            <a:xfrm>
              <a:off x="352423" y="4969034"/>
              <a:ext cx="0" cy="720114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5E26F939-A2C9-025C-DAFE-39368F1DFDA2}"/>
                </a:ext>
              </a:extLst>
            </p:cNvPr>
            <p:cNvSpPr txBox="1"/>
            <p:nvPr/>
          </p:nvSpPr>
          <p:spPr>
            <a:xfrm>
              <a:off x="-202404" y="4692034"/>
              <a:ext cx="11001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0.1 m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B74F5A6-C390-D60C-E1C8-B36EBCAE7F6B}"/>
                </a:ext>
              </a:extLst>
            </p:cNvPr>
            <p:cNvSpPr txBox="1"/>
            <p:nvPr/>
          </p:nvSpPr>
          <p:spPr>
            <a:xfrm>
              <a:off x="-180967" y="5138613"/>
              <a:ext cx="11001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0.4 m</a:t>
              </a:r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8ED032B4-AF83-E506-3B6B-E974640E3C83}"/>
                </a:ext>
              </a:extLst>
            </p:cNvPr>
            <p:cNvCxnSpPr>
              <a:cxnSpLocks/>
            </p:cNvCxnSpPr>
            <p:nvPr/>
          </p:nvCxnSpPr>
          <p:spPr>
            <a:xfrm>
              <a:off x="4360063" y="5169702"/>
              <a:ext cx="0" cy="39642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2482A5DF-705E-E6BD-886C-3DEAAE5630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66950" y="5633094"/>
              <a:ext cx="2014538" cy="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52C87371-CB63-DBA8-36B0-A99C5B8FC092}"/>
                </a:ext>
              </a:extLst>
            </p:cNvPr>
            <p:cNvSpPr txBox="1"/>
            <p:nvPr/>
          </p:nvSpPr>
          <p:spPr>
            <a:xfrm>
              <a:off x="2805112" y="5604146"/>
              <a:ext cx="11001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0.72 m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2B6B4ED1-F784-177F-A11D-A730A0740DDE}"/>
                </a:ext>
              </a:extLst>
            </p:cNvPr>
            <p:cNvSpPr txBox="1"/>
            <p:nvPr/>
          </p:nvSpPr>
          <p:spPr>
            <a:xfrm>
              <a:off x="4071943" y="5261510"/>
              <a:ext cx="11001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0.2 m</a:t>
              </a: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41083D12-9FDD-FB89-0929-1B1733CCF8CD}"/>
                </a:ext>
              </a:extLst>
            </p:cNvPr>
            <p:cNvSpPr/>
            <p:nvPr/>
          </p:nvSpPr>
          <p:spPr>
            <a:xfrm>
              <a:off x="1009646" y="3571569"/>
              <a:ext cx="142875" cy="204788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70DB9AE8-09AB-9720-7B62-6638C6492104}"/>
                </a:ext>
              </a:extLst>
            </p:cNvPr>
            <p:cNvSpPr/>
            <p:nvPr/>
          </p:nvSpPr>
          <p:spPr>
            <a:xfrm>
              <a:off x="5548307" y="3575945"/>
              <a:ext cx="142875" cy="204788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53511E9-594A-5B59-5F4D-E03FACD40540}"/>
                </a:ext>
              </a:extLst>
            </p:cNvPr>
            <p:cNvSpPr txBox="1"/>
            <p:nvPr/>
          </p:nvSpPr>
          <p:spPr>
            <a:xfrm>
              <a:off x="3940978" y="3494512"/>
              <a:ext cx="15549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CG = [0.72, 0, -0.42]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7F4FA38B-A524-A044-239B-A6843B2FC208}"/>
                </a:ext>
              </a:extLst>
            </p:cNvPr>
            <p:cNvSpPr txBox="1"/>
            <p:nvPr/>
          </p:nvSpPr>
          <p:spPr>
            <a:xfrm>
              <a:off x="1190624" y="3509464"/>
              <a:ext cx="15549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CG = [-0.72, 0, -0.42]</a:t>
              </a: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3CD84686-5F84-68C0-DEA3-9CBFBF5FC4A2}"/>
                </a:ext>
              </a:extLst>
            </p:cNvPr>
            <p:cNvSpPr/>
            <p:nvPr/>
          </p:nvSpPr>
          <p:spPr>
            <a:xfrm>
              <a:off x="1024645" y="4722049"/>
              <a:ext cx="130965" cy="134342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747E4C51-17DF-FE5B-635C-D8E62731EFDC}"/>
                </a:ext>
              </a:extLst>
            </p:cNvPr>
            <p:cNvSpPr/>
            <p:nvPr/>
          </p:nvSpPr>
          <p:spPr>
            <a:xfrm>
              <a:off x="5554261" y="4736039"/>
              <a:ext cx="130965" cy="134342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6AC3B1F9-9E56-BD5B-059A-C1E114F911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53063" y="4819639"/>
              <a:ext cx="295269" cy="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6195D2F8-F5B4-E771-DB29-F0E7FBFF54CD}"/>
                </a:ext>
              </a:extLst>
            </p:cNvPr>
            <p:cNvSpPr txBox="1"/>
            <p:nvPr/>
          </p:nvSpPr>
          <p:spPr>
            <a:xfrm>
              <a:off x="2246708" y="4647608"/>
              <a:ext cx="211750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Platform: CG = [0, 0, -0.8]</a:t>
              </a:r>
            </a:p>
          </p:txBody>
        </p: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2689689A-6C5B-2676-5E7F-C04C006472BA}"/>
                </a:ext>
              </a:extLst>
            </p:cNvPr>
            <p:cNvCxnSpPr>
              <a:cxnSpLocks/>
            </p:cNvCxnSpPr>
            <p:nvPr/>
          </p:nvCxnSpPr>
          <p:spPr>
            <a:xfrm>
              <a:off x="6421638" y="3673963"/>
              <a:ext cx="0" cy="115657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C80200F6-C405-212D-2A95-363B45143C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9247" y="3673963"/>
              <a:ext cx="1066818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1F86EA4A-51EC-878D-E85B-4F05CEA71F4A}"/>
                </a:ext>
              </a:extLst>
            </p:cNvPr>
            <p:cNvSpPr txBox="1"/>
            <p:nvPr/>
          </p:nvSpPr>
          <p:spPr>
            <a:xfrm>
              <a:off x="1847850" y="2161457"/>
              <a:ext cx="9453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SWL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D2B71685-0D82-0C16-0546-FD5C400376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14959" y="4830533"/>
              <a:ext cx="1066818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799A8DE9-D907-2112-5E3F-F055774DD5FC}"/>
                </a:ext>
              </a:extLst>
            </p:cNvPr>
            <p:cNvCxnSpPr>
              <a:cxnSpLocks/>
            </p:cNvCxnSpPr>
            <p:nvPr/>
          </p:nvCxnSpPr>
          <p:spPr>
            <a:xfrm>
              <a:off x="556025" y="2461677"/>
              <a:ext cx="0" cy="232443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3C856A8-955E-C60E-781E-8CB321D7FC03}"/>
                </a:ext>
              </a:extLst>
            </p:cNvPr>
            <p:cNvSpPr txBox="1"/>
            <p:nvPr/>
          </p:nvSpPr>
          <p:spPr>
            <a:xfrm>
              <a:off x="5960" y="3376880"/>
              <a:ext cx="11001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0.58 m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344C11E-4769-C809-FE60-CD2F0787B50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4229" y="2459796"/>
              <a:ext cx="900112" cy="10607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C073D85C-1F72-D70F-73EA-033591D377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7910" y="4792014"/>
              <a:ext cx="1972863" cy="9729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05230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3A418-2463-51D0-2FEE-FF4483785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8A9D5-94FD-65F2-E1CB-C03DCC7DC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FOSWEC BEM Dimensions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FD231F-6BE0-E0EF-71AF-0264B0FB6ED2}"/>
              </a:ext>
            </a:extLst>
          </p:cNvPr>
          <p:cNvSpPr txBox="1"/>
          <p:nvPr/>
        </p:nvSpPr>
        <p:spPr>
          <a:xfrm>
            <a:off x="2180530" y="2375132"/>
            <a:ext cx="1100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Top view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2E74381A-FF30-3D79-1675-3992E79AF222}"/>
              </a:ext>
            </a:extLst>
          </p:cNvPr>
          <p:cNvGrpSpPr/>
          <p:nvPr/>
        </p:nvGrpSpPr>
        <p:grpSpPr>
          <a:xfrm>
            <a:off x="126726" y="2872561"/>
            <a:ext cx="5032937" cy="2571750"/>
            <a:chOff x="635838" y="2266950"/>
            <a:chExt cx="5032937" cy="25717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66EB6DDF-BFE4-3976-91C8-C5A9437EB651}"/>
                </a:ext>
              </a:extLst>
            </p:cNvPr>
            <p:cNvSpPr/>
            <p:nvPr/>
          </p:nvSpPr>
          <p:spPr>
            <a:xfrm>
              <a:off x="1238248" y="2266950"/>
              <a:ext cx="504825" cy="46672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E5CC121-84B7-98AD-DA62-4C839875EC8A}"/>
                </a:ext>
              </a:extLst>
            </p:cNvPr>
            <p:cNvSpPr/>
            <p:nvPr/>
          </p:nvSpPr>
          <p:spPr>
            <a:xfrm>
              <a:off x="1238249" y="4371975"/>
              <a:ext cx="504825" cy="46672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797C1F7-A379-E194-B8D6-0CDB1CB6AF47}"/>
                </a:ext>
              </a:extLst>
            </p:cNvPr>
            <p:cNvSpPr/>
            <p:nvPr/>
          </p:nvSpPr>
          <p:spPr>
            <a:xfrm>
              <a:off x="4667249" y="4371975"/>
              <a:ext cx="504825" cy="46672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6F43C32-0C46-585B-E326-938D86846C25}"/>
                </a:ext>
              </a:extLst>
            </p:cNvPr>
            <p:cNvSpPr/>
            <p:nvPr/>
          </p:nvSpPr>
          <p:spPr>
            <a:xfrm>
              <a:off x="4667248" y="2266950"/>
              <a:ext cx="504825" cy="46672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1A26983-C0FC-7EEB-56AE-1F8711D4A804}"/>
                </a:ext>
              </a:extLst>
            </p:cNvPr>
            <p:cNvSpPr/>
            <p:nvPr/>
          </p:nvSpPr>
          <p:spPr>
            <a:xfrm>
              <a:off x="1366837" y="2933699"/>
              <a:ext cx="257176" cy="1238251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C835789-5DA3-8AC9-A9C1-1D939A6E26ED}"/>
                </a:ext>
              </a:extLst>
            </p:cNvPr>
            <p:cNvSpPr/>
            <p:nvPr/>
          </p:nvSpPr>
          <p:spPr>
            <a:xfrm>
              <a:off x="4791072" y="2933699"/>
              <a:ext cx="257176" cy="1238251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B4FAE15-E1A9-8B01-CBFA-5127D13D794C}"/>
                </a:ext>
              </a:extLst>
            </p:cNvPr>
            <p:cNvSpPr/>
            <p:nvPr/>
          </p:nvSpPr>
          <p:spPr>
            <a:xfrm>
              <a:off x="2362200" y="3076575"/>
              <a:ext cx="1595441" cy="97807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DAQ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937934D7-F42B-4247-2F8F-020AEF9F2D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19349" y="4123924"/>
              <a:ext cx="1638292" cy="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51A6A05-830D-4E3F-CF7E-05183E5822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10032" y="3057525"/>
              <a:ext cx="0" cy="1037824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56D7F7C-D5CC-0A33-3A1A-36BC94C2794F}"/>
                </a:ext>
              </a:extLst>
            </p:cNvPr>
            <p:cNvSpPr txBox="1"/>
            <p:nvPr/>
          </p:nvSpPr>
          <p:spPr>
            <a:xfrm>
              <a:off x="3743325" y="3414325"/>
              <a:ext cx="11001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0.6 m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8DC4DE2-C1B3-3E08-C6C5-77584B37179B}"/>
                </a:ext>
              </a:extLst>
            </p:cNvPr>
            <p:cNvSpPr/>
            <p:nvPr/>
          </p:nvSpPr>
          <p:spPr>
            <a:xfrm>
              <a:off x="1547822" y="4224818"/>
              <a:ext cx="3367075" cy="15550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3647BD6-131D-CFE5-03C2-FB4A3D7D771F}"/>
                </a:ext>
              </a:extLst>
            </p:cNvPr>
            <p:cNvSpPr/>
            <p:nvPr/>
          </p:nvSpPr>
          <p:spPr>
            <a:xfrm>
              <a:off x="1576415" y="2785181"/>
              <a:ext cx="3326585" cy="1428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BD8BCCC-5DDD-4E84-4109-48E5EA080121}"/>
                </a:ext>
              </a:extLst>
            </p:cNvPr>
            <p:cNvSpPr txBox="1"/>
            <p:nvPr/>
          </p:nvSpPr>
          <p:spPr>
            <a:xfrm>
              <a:off x="2588430" y="4095349"/>
              <a:ext cx="11001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0.72 m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6185690-A998-10A4-8049-7E6A479F9B70}"/>
                </a:ext>
              </a:extLst>
            </p:cNvPr>
            <p:cNvSpPr/>
            <p:nvPr/>
          </p:nvSpPr>
          <p:spPr>
            <a:xfrm>
              <a:off x="4772006" y="2862063"/>
              <a:ext cx="152400" cy="1446996"/>
            </a:xfrm>
            <a:prstGeom prst="rect">
              <a:avLst/>
            </a:prstGeom>
            <a:solidFill>
              <a:schemeClr val="bg2">
                <a:lumMod val="75000"/>
                <a:alpha val="50000"/>
              </a:schemeClr>
            </a:solidFill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D5826EA-CD4D-C7C5-70D8-66421A0C6790}"/>
                </a:ext>
              </a:extLst>
            </p:cNvPr>
            <p:cNvSpPr/>
            <p:nvPr/>
          </p:nvSpPr>
          <p:spPr>
            <a:xfrm>
              <a:off x="1500215" y="2879836"/>
              <a:ext cx="152400" cy="1446996"/>
            </a:xfrm>
            <a:prstGeom prst="rect">
              <a:avLst/>
            </a:prstGeom>
            <a:solidFill>
              <a:schemeClr val="bg2">
                <a:lumMod val="75000"/>
                <a:alpha val="50000"/>
              </a:schemeClr>
            </a:solidFill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5B31611B-2CC6-6856-325C-06BB4C28BC08}"/>
                </a:ext>
              </a:extLst>
            </p:cNvPr>
            <p:cNvCxnSpPr>
              <a:cxnSpLocks/>
            </p:cNvCxnSpPr>
            <p:nvPr/>
          </p:nvCxnSpPr>
          <p:spPr>
            <a:xfrm>
              <a:off x="4984746" y="4224818"/>
              <a:ext cx="0" cy="200025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E7714B2F-70F3-6751-3BB3-55B39EA610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35107" y="4478827"/>
              <a:ext cx="216696" cy="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FD49131-FD68-F945-DE89-E10730DEF96E}"/>
                </a:ext>
              </a:extLst>
            </p:cNvPr>
            <p:cNvSpPr txBox="1"/>
            <p:nvPr/>
          </p:nvSpPr>
          <p:spPr>
            <a:xfrm>
              <a:off x="4962504" y="4171950"/>
              <a:ext cx="7062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0.05 m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D3E7FD8-B1F5-1C50-D687-072255329BD2}"/>
                </a:ext>
              </a:extLst>
            </p:cNvPr>
            <p:cNvSpPr txBox="1"/>
            <p:nvPr/>
          </p:nvSpPr>
          <p:spPr>
            <a:xfrm>
              <a:off x="4465802" y="4443668"/>
              <a:ext cx="7062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0.05 m</a:t>
              </a:r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28984AB4-366A-FE48-1A9E-1244D59AB98A}"/>
                </a:ext>
              </a:extLst>
            </p:cNvPr>
            <p:cNvCxnSpPr>
              <a:cxnSpLocks/>
            </p:cNvCxnSpPr>
            <p:nvPr/>
          </p:nvCxnSpPr>
          <p:spPr>
            <a:xfrm>
              <a:off x="1238248" y="2769790"/>
              <a:ext cx="0" cy="1610533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82FE1D0-762A-7C89-69D5-AEE771C03959}"/>
                </a:ext>
              </a:extLst>
            </p:cNvPr>
            <p:cNvSpPr txBox="1"/>
            <p:nvPr/>
          </p:nvSpPr>
          <p:spPr>
            <a:xfrm>
              <a:off x="635838" y="3414324"/>
              <a:ext cx="64530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1.06 m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5A023382-0C66-FF6C-8F62-9E56D817ECCE}"/>
                </a:ext>
              </a:extLst>
            </p:cNvPr>
            <p:cNvSpPr txBox="1"/>
            <p:nvPr/>
          </p:nvSpPr>
          <p:spPr>
            <a:xfrm>
              <a:off x="2882506" y="2556402"/>
              <a:ext cx="64530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1.44 m</a:t>
              </a:r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6BC2DC3D-DD77-B4BE-A628-22F0E66C56A4}"/>
                </a:ext>
              </a:extLst>
            </p:cNvPr>
            <p:cNvCxnSpPr>
              <a:cxnSpLocks/>
              <a:stCxn id="28" idx="1"/>
              <a:endCxn id="28" idx="3"/>
            </p:cNvCxnSpPr>
            <p:nvPr/>
          </p:nvCxnSpPr>
          <p:spPr>
            <a:xfrm>
              <a:off x="1576415" y="2856618"/>
              <a:ext cx="3326585" cy="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94" name="Table 93">
            <a:extLst>
              <a:ext uri="{FF2B5EF4-FFF2-40B4-BE49-F238E27FC236}">
                <a16:creationId xmlns:a16="http://schemas.microsoft.com/office/drawing/2014/main" id="{5AB64F4F-10E4-F513-5E0A-9E1010C19F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4523918"/>
              </p:ext>
            </p:extLst>
          </p:nvPr>
        </p:nvGraphicFramePr>
        <p:xfrm>
          <a:off x="5638078" y="1991500"/>
          <a:ext cx="5596359" cy="17621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0022">
                  <a:extLst>
                    <a:ext uri="{9D8B030D-6E8A-4147-A177-3AD203B41FA5}">
                      <a16:colId xmlns:a16="http://schemas.microsoft.com/office/drawing/2014/main" val="3941004845"/>
                    </a:ext>
                  </a:extLst>
                </a:gridCol>
                <a:gridCol w="2203450">
                  <a:extLst>
                    <a:ext uri="{9D8B030D-6E8A-4147-A177-3AD203B41FA5}">
                      <a16:colId xmlns:a16="http://schemas.microsoft.com/office/drawing/2014/main" val="1926949240"/>
                    </a:ext>
                  </a:extLst>
                </a:gridCol>
                <a:gridCol w="1372887">
                  <a:extLst>
                    <a:ext uri="{9D8B030D-6E8A-4147-A177-3AD203B41FA5}">
                      <a16:colId xmlns:a16="http://schemas.microsoft.com/office/drawing/2014/main" val="8266974"/>
                    </a:ext>
                  </a:extLst>
                </a:gridCol>
              </a:tblGrid>
              <a:tr h="390522">
                <a:tc>
                  <a:txBody>
                    <a:bodyPr/>
                    <a:lstStyle/>
                    <a:p>
                      <a:r>
                        <a:rPr lang="en-US" sz="1200" dirty="0"/>
                        <a:t>Property: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Units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61966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200" dirty="0"/>
                        <a:t>Flap mass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83335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200" dirty="0"/>
                        <a:t>Platform mass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189.8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241276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200" dirty="0"/>
                        <a:t>Mooring stiffness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[1e5, 0, 1e5, 0, 1e5]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N/m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943191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200" dirty="0"/>
                        <a:t>Mooring damping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[1e4, 0, 1e4, 0, 1e4]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Ns/m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4188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200" dirty="0"/>
                        <a:t>Mooring pretension (heave)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-273.0614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1971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8364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>
            <a:extLst>
              <a:ext uri="{FF2B5EF4-FFF2-40B4-BE49-F238E27FC236}">
                <a16:creationId xmlns:a16="http://schemas.microsoft.com/office/drawing/2014/main" id="{79A78AD0-40C7-C714-54BA-9EDB49C40D2D}"/>
              </a:ext>
            </a:extLst>
          </p:cNvPr>
          <p:cNvGrpSpPr/>
          <p:nvPr/>
        </p:nvGrpSpPr>
        <p:grpSpPr>
          <a:xfrm>
            <a:off x="406471" y="907427"/>
            <a:ext cx="6862759" cy="4076057"/>
            <a:chOff x="406471" y="907427"/>
            <a:chExt cx="6862759" cy="407605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716D540-DE2C-6F7C-9C83-0EFE5824194A}"/>
                </a:ext>
              </a:extLst>
            </p:cNvPr>
            <p:cNvSpPr/>
            <p:nvPr/>
          </p:nvSpPr>
          <p:spPr>
            <a:xfrm>
              <a:off x="2616271" y="4291762"/>
              <a:ext cx="2014538" cy="40105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DAQ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2957B6B-52E2-F898-60B0-E62F5428D9CF}"/>
                </a:ext>
              </a:extLst>
            </p:cNvPr>
            <p:cNvSpPr/>
            <p:nvPr/>
          </p:nvSpPr>
          <p:spPr>
            <a:xfrm>
              <a:off x="1020836" y="907427"/>
              <a:ext cx="781045" cy="39084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EE92C2C-371C-DBE6-F161-9858186C888D}"/>
                </a:ext>
              </a:extLst>
            </p:cNvPr>
            <p:cNvSpPr/>
            <p:nvPr/>
          </p:nvSpPr>
          <p:spPr>
            <a:xfrm>
              <a:off x="5559497" y="969782"/>
              <a:ext cx="781045" cy="38460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rapezoid 8">
              <a:extLst>
                <a:ext uri="{FF2B5EF4-FFF2-40B4-BE49-F238E27FC236}">
                  <a16:creationId xmlns:a16="http://schemas.microsoft.com/office/drawing/2014/main" id="{5DADB34A-6039-A2C2-8D17-60EE9D33E2F8}"/>
                </a:ext>
              </a:extLst>
            </p:cNvPr>
            <p:cNvSpPr/>
            <p:nvPr/>
          </p:nvSpPr>
          <p:spPr>
            <a:xfrm flipH="1" flipV="1">
              <a:off x="1225618" y="1591374"/>
              <a:ext cx="409575" cy="2333622"/>
            </a:xfrm>
            <a:prstGeom prst="trapezoid">
              <a:avLst/>
            </a:prstGeom>
            <a:solidFill>
              <a:srgbClr val="C00000">
                <a:alpha val="50000"/>
              </a:srgbClr>
            </a:solidFill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8E9AE49-26A1-DDFC-EF74-DAE8D21E672F}"/>
                </a:ext>
              </a:extLst>
            </p:cNvPr>
            <p:cNvCxnSpPr>
              <a:cxnSpLocks/>
            </p:cNvCxnSpPr>
            <p:nvPr/>
          </p:nvCxnSpPr>
          <p:spPr>
            <a:xfrm>
              <a:off x="406471" y="1546046"/>
              <a:ext cx="6572250" cy="0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rapezoid 10">
              <a:extLst>
                <a:ext uri="{FF2B5EF4-FFF2-40B4-BE49-F238E27FC236}">
                  <a16:creationId xmlns:a16="http://schemas.microsoft.com/office/drawing/2014/main" id="{7A6600EA-93C7-F464-8743-FBF4A45DBC3C}"/>
                </a:ext>
              </a:extLst>
            </p:cNvPr>
            <p:cNvSpPr/>
            <p:nvPr/>
          </p:nvSpPr>
          <p:spPr>
            <a:xfrm flipH="1" flipV="1">
              <a:off x="5764280" y="1591374"/>
              <a:ext cx="409575" cy="2333622"/>
            </a:xfrm>
            <a:prstGeom prst="trapezoid">
              <a:avLst/>
            </a:prstGeom>
            <a:solidFill>
              <a:srgbClr val="C00000">
                <a:alpha val="50000"/>
              </a:srgbClr>
            </a:solidFill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DDBBA28-D179-9B91-E321-0E034210FFBA}"/>
                </a:ext>
              </a:extLst>
            </p:cNvPr>
            <p:cNvSpPr/>
            <p:nvPr/>
          </p:nvSpPr>
          <p:spPr>
            <a:xfrm>
              <a:off x="1439928" y="4131697"/>
              <a:ext cx="4519615" cy="16192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907EAE39-4398-A408-F74B-D997160B7B8B}"/>
                </a:ext>
              </a:extLst>
            </p:cNvPr>
            <p:cNvSpPr/>
            <p:nvPr/>
          </p:nvSpPr>
          <p:spPr>
            <a:xfrm>
              <a:off x="1358967" y="2698265"/>
              <a:ext cx="142875" cy="204788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B5FE98A8-3BD3-E5CF-6BBA-8D0336F71097}"/>
                </a:ext>
              </a:extLst>
            </p:cNvPr>
            <p:cNvSpPr/>
            <p:nvPr/>
          </p:nvSpPr>
          <p:spPr>
            <a:xfrm>
              <a:off x="5897628" y="2702641"/>
              <a:ext cx="142875" cy="204788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315AE16-7C00-687B-1202-CB9B790E03A3}"/>
                </a:ext>
              </a:extLst>
            </p:cNvPr>
            <p:cNvSpPr txBox="1"/>
            <p:nvPr/>
          </p:nvSpPr>
          <p:spPr>
            <a:xfrm>
              <a:off x="2662908" y="4027993"/>
              <a:ext cx="19212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Platform</a:t>
              </a:r>
            </a:p>
          </p:txBody>
        </p: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92D2C9F0-C6F3-DFC1-BD50-33404C454E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94616" y="3668619"/>
              <a:ext cx="1385372" cy="1314865"/>
            </a:xfrm>
            <a:prstGeom prst="rect">
              <a:avLst/>
            </a:prstGeom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BB9FD0AE-7D39-509C-3202-CE7893E797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06171" y="2199821"/>
              <a:ext cx="1268664" cy="1204097"/>
            </a:xfrm>
            <a:prstGeom prst="rect">
              <a:avLst/>
            </a:prstGeom>
          </p:spPr>
        </p:pic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28017769-0CD7-AF04-1B74-78378101A4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6893" y="2186201"/>
              <a:ext cx="1266070" cy="1201635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43862F5-450D-8DA3-790F-0088FC39A5DF}"/>
                </a:ext>
              </a:extLst>
            </p:cNvPr>
            <p:cNvSpPr txBox="1"/>
            <p:nvPr/>
          </p:nvSpPr>
          <p:spPr>
            <a:xfrm>
              <a:off x="1928151" y="2284874"/>
              <a:ext cx="7810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6 </a:t>
              </a:r>
              <a:r>
                <a:rPr lang="en-US" dirty="0" err="1"/>
                <a:t>dof</a:t>
              </a:r>
              <a:endParaRPr lang="en-US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0348F11-CF1E-083E-0A5B-3C0BC3B357E2}"/>
                </a:ext>
              </a:extLst>
            </p:cNvPr>
            <p:cNvSpPr txBox="1"/>
            <p:nvPr/>
          </p:nvSpPr>
          <p:spPr>
            <a:xfrm>
              <a:off x="3839699" y="3605131"/>
              <a:ext cx="7810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6 </a:t>
              </a:r>
              <a:r>
                <a:rPr lang="en-US" dirty="0" err="1"/>
                <a:t>dof</a:t>
              </a:r>
              <a:endParaRPr lang="en-US" dirty="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68FAE9C-D73A-B690-F7F6-774B80484A8D}"/>
                </a:ext>
              </a:extLst>
            </p:cNvPr>
            <p:cNvSpPr txBox="1"/>
            <p:nvPr/>
          </p:nvSpPr>
          <p:spPr>
            <a:xfrm>
              <a:off x="6488185" y="2184666"/>
              <a:ext cx="7810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6 </a:t>
              </a:r>
              <a:r>
                <a:rPr lang="en-US" dirty="0" err="1"/>
                <a:t>dof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680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1D46C-5DDE-921E-ADAF-4F28CD3E8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D499368E-3F94-378C-17DB-3EF56DBFAB95}"/>
              </a:ext>
            </a:extLst>
          </p:cNvPr>
          <p:cNvGrpSpPr/>
          <p:nvPr/>
        </p:nvGrpSpPr>
        <p:grpSpPr>
          <a:xfrm>
            <a:off x="406471" y="907427"/>
            <a:ext cx="6862759" cy="4175809"/>
            <a:chOff x="406471" y="907427"/>
            <a:chExt cx="6862759" cy="4175809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D1C7D085-8EFF-A419-A1E9-E856892310B0}"/>
                </a:ext>
              </a:extLst>
            </p:cNvPr>
            <p:cNvGrpSpPr/>
            <p:nvPr/>
          </p:nvGrpSpPr>
          <p:grpSpPr>
            <a:xfrm>
              <a:off x="406471" y="907427"/>
              <a:ext cx="6862759" cy="3908417"/>
              <a:chOff x="406471" y="907427"/>
              <a:chExt cx="6862759" cy="3908417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240C082-5286-F6D8-2749-57351556C480}"/>
                  </a:ext>
                </a:extLst>
              </p:cNvPr>
              <p:cNvSpPr/>
              <p:nvPr/>
            </p:nvSpPr>
            <p:spPr>
              <a:xfrm>
                <a:off x="2616271" y="4291762"/>
                <a:ext cx="2014538" cy="40105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DAQ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D4DC6E5-085E-29CE-AE3E-00A3DA69310A}"/>
                  </a:ext>
                </a:extLst>
              </p:cNvPr>
              <p:cNvSpPr/>
              <p:nvPr/>
            </p:nvSpPr>
            <p:spPr>
              <a:xfrm>
                <a:off x="1020836" y="907427"/>
                <a:ext cx="781045" cy="3908417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5C75B8F-0D1B-D99E-328B-710285BFB2B9}"/>
                  </a:ext>
                </a:extLst>
              </p:cNvPr>
              <p:cNvSpPr/>
              <p:nvPr/>
            </p:nvSpPr>
            <p:spPr>
              <a:xfrm>
                <a:off x="5559497" y="969782"/>
                <a:ext cx="781045" cy="384606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Trapezoid 8">
                <a:extLst>
                  <a:ext uri="{FF2B5EF4-FFF2-40B4-BE49-F238E27FC236}">
                    <a16:creationId xmlns:a16="http://schemas.microsoft.com/office/drawing/2014/main" id="{5209F7CC-7B6D-B6A2-5705-4ECC1CE773EB}"/>
                  </a:ext>
                </a:extLst>
              </p:cNvPr>
              <p:cNvSpPr/>
              <p:nvPr/>
            </p:nvSpPr>
            <p:spPr>
              <a:xfrm flipH="1" flipV="1">
                <a:off x="1225618" y="1591374"/>
                <a:ext cx="409575" cy="2333622"/>
              </a:xfrm>
              <a:prstGeom prst="trapezoid">
                <a:avLst/>
              </a:prstGeom>
              <a:solidFill>
                <a:srgbClr val="C00000">
                  <a:alpha val="50000"/>
                </a:srgbClr>
              </a:solidFill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2573B160-1E6A-F63D-5787-60E43AF7EC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471" y="1546046"/>
                <a:ext cx="6572250" cy="0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rapezoid 10">
                <a:extLst>
                  <a:ext uri="{FF2B5EF4-FFF2-40B4-BE49-F238E27FC236}">
                    <a16:creationId xmlns:a16="http://schemas.microsoft.com/office/drawing/2014/main" id="{C7E8DB78-4CB3-0532-2E8F-50BB26AFBE32}"/>
                  </a:ext>
                </a:extLst>
              </p:cNvPr>
              <p:cNvSpPr/>
              <p:nvPr/>
            </p:nvSpPr>
            <p:spPr>
              <a:xfrm flipH="1" flipV="1">
                <a:off x="5764280" y="1591374"/>
                <a:ext cx="409575" cy="2333622"/>
              </a:xfrm>
              <a:prstGeom prst="trapezoid">
                <a:avLst/>
              </a:prstGeom>
              <a:solidFill>
                <a:srgbClr val="C00000">
                  <a:alpha val="50000"/>
                </a:srgbClr>
              </a:solidFill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19292C3-AA67-23A6-9D74-BA36E788B344}"/>
                  </a:ext>
                </a:extLst>
              </p:cNvPr>
              <p:cNvSpPr/>
              <p:nvPr/>
            </p:nvSpPr>
            <p:spPr>
              <a:xfrm>
                <a:off x="1439928" y="4131697"/>
                <a:ext cx="4519615" cy="16192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0E438C7E-CB09-C37A-5C68-CAC643B84434}"/>
                  </a:ext>
                </a:extLst>
              </p:cNvPr>
              <p:cNvSpPr/>
              <p:nvPr/>
            </p:nvSpPr>
            <p:spPr>
              <a:xfrm>
                <a:off x="1358967" y="2698265"/>
                <a:ext cx="142875" cy="204788"/>
              </a:xfrm>
              <a:prstGeom prst="ellipse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9A7AD91F-B085-5939-BC7E-0F12239F186C}"/>
                  </a:ext>
                </a:extLst>
              </p:cNvPr>
              <p:cNvSpPr/>
              <p:nvPr/>
            </p:nvSpPr>
            <p:spPr>
              <a:xfrm>
                <a:off x="5897628" y="2702641"/>
                <a:ext cx="142875" cy="204788"/>
              </a:xfrm>
              <a:prstGeom prst="ellipse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E04B801-D17B-DEFC-0687-7CBD3A848CCB}"/>
                  </a:ext>
                </a:extLst>
              </p:cNvPr>
              <p:cNvSpPr txBox="1"/>
              <p:nvPr/>
            </p:nvSpPr>
            <p:spPr>
              <a:xfrm>
                <a:off x="2662908" y="4027993"/>
                <a:ext cx="19212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Platform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C06D07EC-6425-2466-9E94-B68138DBAE7D}"/>
                  </a:ext>
                </a:extLst>
              </p:cNvPr>
              <p:cNvSpPr txBox="1"/>
              <p:nvPr/>
            </p:nvSpPr>
            <p:spPr>
              <a:xfrm>
                <a:off x="1928151" y="2284874"/>
                <a:ext cx="781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1 </a:t>
                </a:r>
                <a:r>
                  <a:rPr lang="en-US" dirty="0" err="1"/>
                  <a:t>dof</a:t>
                </a:r>
                <a:endParaRPr lang="en-US" dirty="0"/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E0F00F77-2C38-E382-E64B-EFD30C890F64}"/>
                  </a:ext>
                </a:extLst>
              </p:cNvPr>
              <p:cNvSpPr txBox="1"/>
              <p:nvPr/>
            </p:nvSpPr>
            <p:spPr>
              <a:xfrm>
                <a:off x="3839699" y="3605131"/>
                <a:ext cx="781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3 </a:t>
                </a:r>
                <a:r>
                  <a:rPr lang="en-US" dirty="0" err="1"/>
                  <a:t>dof</a:t>
                </a:r>
                <a:endParaRPr lang="en-US" dirty="0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0FD595FC-2231-FEC6-A71B-AA289363B104}"/>
                  </a:ext>
                </a:extLst>
              </p:cNvPr>
              <p:cNvSpPr txBox="1"/>
              <p:nvPr/>
            </p:nvSpPr>
            <p:spPr>
              <a:xfrm>
                <a:off x="6488185" y="2401363"/>
                <a:ext cx="781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1 </a:t>
                </a:r>
                <a:r>
                  <a:rPr lang="en-US" dirty="0" err="1"/>
                  <a:t>dof</a:t>
                </a:r>
                <a:endParaRPr lang="en-US" dirty="0"/>
              </a:p>
            </p:txBody>
          </p:sp>
        </p:grp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BD39DDA-34EC-AFAA-5CE8-C5F3F2614B26}"/>
                </a:ext>
              </a:extLst>
            </p:cNvPr>
            <p:cNvCxnSpPr/>
            <p:nvPr/>
          </p:nvCxnSpPr>
          <p:spPr>
            <a:xfrm>
              <a:off x="3626777" y="3603757"/>
              <a:ext cx="0" cy="1479479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5DEEC32-100E-F1FC-19C0-CEDDEEE3184D}"/>
                </a:ext>
              </a:extLst>
            </p:cNvPr>
            <p:cNvCxnSpPr>
              <a:cxnSpLocks/>
            </p:cNvCxnSpPr>
            <p:nvPr/>
          </p:nvCxnSpPr>
          <p:spPr>
            <a:xfrm>
              <a:off x="2764604" y="4099162"/>
              <a:ext cx="1724346" cy="0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Arrow: Curved Down 15">
              <a:extLst>
                <a:ext uri="{FF2B5EF4-FFF2-40B4-BE49-F238E27FC236}">
                  <a16:creationId xmlns:a16="http://schemas.microsoft.com/office/drawing/2014/main" id="{A9B4A184-71D4-CCBD-5018-EE022E130B22}"/>
                </a:ext>
              </a:extLst>
            </p:cNvPr>
            <p:cNvSpPr/>
            <p:nvPr/>
          </p:nvSpPr>
          <p:spPr>
            <a:xfrm>
              <a:off x="682695" y="1929428"/>
              <a:ext cx="1457325" cy="385765"/>
            </a:xfrm>
            <a:prstGeom prst="curvedDownArrow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Arrow: Curved Down 16">
              <a:extLst>
                <a:ext uri="{FF2B5EF4-FFF2-40B4-BE49-F238E27FC236}">
                  <a16:creationId xmlns:a16="http://schemas.microsoft.com/office/drawing/2014/main" id="{9811D107-CA7B-4579-4C79-056E819DB3EA}"/>
                </a:ext>
              </a:extLst>
            </p:cNvPr>
            <p:cNvSpPr/>
            <p:nvPr/>
          </p:nvSpPr>
          <p:spPr>
            <a:xfrm>
              <a:off x="2911011" y="3912050"/>
              <a:ext cx="1457325" cy="385765"/>
            </a:xfrm>
            <a:prstGeom prst="curvedDownArrow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" name="Arrow: Curved Down 17">
              <a:extLst>
                <a:ext uri="{FF2B5EF4-FFF2-40B4-BE49-F238E27FC236}">
                  <a16:creationId xmlns:a16="http://schemas.microsoft.com/office/drawing/2014/main" id="{6CE41918-056B-D9D6-9698-49AF35AA2931}"/>
                </a:ext>
              </a:extLst>
            </p:cNvPr>
            <p:cNvSpPr/>
            <p:nvPr/>
          </p:nvSpPr>
          <p:spPr>
            <a:xfrm>
              <a:off x="5221356" y="1996254"/>
              <a:ext cx="1457325" cy="385765"/>
            </a:xfrm>
            <a:prstGeom prst="curvedDownArrow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3456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</TotalTime>
  <Words>157</Words>
  <Application>Microsoft Office PowerPoint</Application>
  <PresentationFormat>Widescreen</PresentationFormat>
  <Paragraphs>60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FOSWEC BEM Dimensions</vt:lpstr>
      <vt:lpstr>FOSWEC BEM Dimensions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Grasberger, Jeff Thomas</dc:creator>
  <cp:lastModifiedBy>Grasberger, Jeff Thomas</cp:lastModifiedBy>
  <cp:revision>6</cp:revision>
  <dcterms:created xsi:type="dcterms:W3CDTF">2026-03-25T21:48:57Z</dcterms:created>
  <dcterms:modified xsi:type="dcterms:W3CDTF">2026-06-26T15:21:35Z</dcterms:modified>
</cp:coreProperties>
</file>